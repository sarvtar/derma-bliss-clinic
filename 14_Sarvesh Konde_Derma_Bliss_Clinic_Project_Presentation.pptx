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594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A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371600" y="914400"/>
            <a:ext cx="9448495" cy="50292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0" y="1998617"/>
            <a:ext cx="853409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3000" b="1">
                <a:solidFill>
                  <a:srgbClr val="6A1B4D"/>
                </a:solidFill>
              </a:defRPr>
            </a:pPr>
            <a:r>
              <a:rPr lang="en-GB" sz="6000" dirty="0"/>
              <a:t>D</a:t>
            </a:r>
            <a:r>
              <a:rPr lang="en-IN" sz="6000" dirty="0"/>
              <a:t>ERMA-BLISS-CLINIC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7750C4-9A44-42DD-AB32-852112C7D76B}"/>
              </a:ext>
            </a:extLst>
          </p:cNvPr>
          <p:cNvSpPr txBox="1"/>
          <p:nvPr/>
        </p:nvSpPr>
        <p:spPr>
          <a:xfrm>
            <a:off x="1828800" y="4820194"/>
            <a:ext cx="376210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Name – Sarvesh Rajesh Konde</a:t>
            </a:r>
          </a:p>
          <a:p>
            <a:r>
              <a:rPr lang="en-GB" sz="1400" b="1" dirty="0"/>
              <a:t>Roll No. – 17030925014</a:t>
            </a:r>
          </a:p>
          <a:p>
            <a:r>
              <a:rPr lang="en-GB" sz="1400" b="1" dirty="0"/>
              <a:t>SYMCA</a:t>
            </a:r>
            <a:endParaRPr lang="en-IN" sz="14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5A059"/>
                </a:solidFill>
              </a:defRPr>
            </a:pPr>
            <a:r>
              <a:t>DERMA BLISS CLINIC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6A1B4D"/>
                </a:solidFill>
              </a:defRPr>
            </a:pPr>
            <a:r>
              <a:t>Project Aim &amp; Clinical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698480" cy="36576"/>
          </a:xfrm>
          <a:prstGeom prst="rect">
            <a:avLst/>
          </a:prstGeom>
          <a:solidFill>
            <a:srgbClr val="C5A059"/>
          </a:solidFill>
          <a:ln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6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6A1B4D"/>
                </a:solidFill>
              </a:defRPr>
            </a:pPr>
            <a:r>
              <a:t>The Clinical Challenge</a:t>
            </a:r>
          </a:p>
          <a:p>
            <a:pPr>
              <a:spcAft>
                <a:spcPts val="800"/>
              </a:spcAft>
              <a:defRPr sz="1200">
                <a:solidFill>
                  <a:srgbClr val="2D2424"/>
                </a:solidFill>
              </a:defRPr>
            </a:pPr>
            <a:r>
              <a:t>• Specialized Practice: Operating high-volume aesthetic cosmetology, trichology, and laser treatments.</a:t>
            </a:r>
          </a:p>
          <a:p>
            <a:pPr>
              <a:spcAft>
                <a:spcPts val="800"/>
              </a:spcAft>
              <a:defRPr sz="1200">
                <a:solidFill>
                  <a:srgbClr val="2D2424"/>
                </a:solidFill>
              </a:defRPr>
            </a:pPr>
            <a:r>
              <a:t>• Paper Bottlenecks: Physical appointment registers lead to scheduling double-bookings and waiting room congestion.</a:t>
            </a:r>
          </a:p>
          <a:p>
            <a:pPr>
              <a:spcAft>
                <a:spcPts val="800"/>
              </a:spcAft>
              <a:defRPr sz="1200">
                <a:solidFill>
                  <a:srgbClr val="2D2424"/>
                </a:solidFill>
              </a:defRPr>
            </a:pPr>
            <a:r>
              <a:t>• Fragmented Records: Paper prescription slips hinder historical review of treatment progressions and drug allergies.</a:t>
            </a:r>
          </a:p>
          <a:p>
            <a:pPr>
              <a:spcAft>
                <a:spcPts val="800"/>
              </a:spcAft>
              <a:defRPr sz="1200">
                <a:solidFill>
                  <a:srgbClr val="2D2424"/>
                </a:solidFill>
              </a:defRPr>
            </a:pPr>
            <a:r>
              <a:t>• Financial Leakage: Inability to track uncollected procedure payments, discounts, and split UPI/Card receipts.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6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6A1B4D"/>
                </a:solidFill>
              </a:defRPr>
            </a:pPr>
            <a:r>
              <a:rPr dirty="0"/>
              <a:t>Primary Project Aim</a:t>
            </a:r>
          </a:p>
          <a:p>
            <a:pPr>
              <a:spcAft>
                <a:spcPts val="800"/>
              </a:spcAft>
              <a:defRPr sz="1200">
                <a:solidFill>
                  <a:srgbClr val="2D2424"/>
                </a:solidFill>
              </a:defRPr>
            </a:pPr>
            <a:r>
              <a:rPr dirty="0"/>
              <a:t>✔ Unified Digital Transformation: Replace disconnected paper logs with an enterprise-grade, secure 3-tier clinical management ecosystem.</a:t>
            </a:r>
          </a:p>
          <a:p>
            <a:pPr>
              <a:spcAft>
                <a:spcPts val="800"/>
              </a:spcAft>
              <a:defRPr sz="1200">
                <a:solidFill>
                  <a:srgbClr val="2D2424"/>
                </a:solidFill>
              </a:defRPr>
            </a:pPr>
            <a:r>
              <a:rPr dirty="0"/>
              <a:t>✔ Clinical Quality &amp; EMR: Provide D</a:t>
            </a:r>
            <a:r>
              <a:rPr lang="en-GB" dirty="0" err="1"/>
              <a:t>octor</a:t>
            </a:r>
            <a:r>
              <a:rPr lang="en-GB" dirty="0"/>
              <a:t> </a:t>
            </a:r>
            <a:r>
              <a:rPr dirty="0"/>
              <a:t>with instant access to patient histories, examination notes, and high-resolution photo archives.</a:t>
            </a:r>
          </a:p>
          <a:p>
            <a:pPr>
              <a:spcAft>
                <a:spcPts val="800"/>
              </a:spcAft>
              <a:defRPr sz="1200">
                <a:solidFill>
                  <a:srgbClr val="2D2424"/>
                </a:solidFill>
              </a:defRPr>
            </a:pPr>
            <a:r>
              <a:rPr dirty="0"/>
              <a:t>✔ Cryptographic Integrity: Generate standardized, tamper-evident digital prescriptions with SHA-256 signature verification.</a:t>
            </a:r>
          </a:p>
          <a:p>
            <a:pPr>
              <a:spcAft>
                <a:spcPts val="800"/>
              </a:spcAft>
              <a:defRPr sz="1200">
                <a:solidFill>
                  <a:srgbClr val="2D2424"/>
                </a:solidFill>
              </a:defRPr>
            </a:pPr>
            <a:r>
              <a:rPr dirty="0"/>
              <a:t>✔ Cross-Platform Mobility: Empower patients with an intuitive mobile app for booking, live queue tokens, and digital health records.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5A059"/>
                </a:solidFill>
              </a:defRPr>
            </a:pPr>
            <a:r>
              <a:t>DERMA BLISS CLINIC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6A1B4D"/>
                </a:solidFill>
              </a:defRPr>
            </a:pPr>
            <a:r>
              <a:t>System Architecture &amp; 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698480" cy="36576"/>
          </a:xfrm>
          <a:prstGeom prst="rect">
            <a:avLst/>
          </a:prstGeom>
          <a:solidFill>
            <a:srgbClr val="C5A059"/>
          </a:solidFill>
          <a:ln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6A1B4D"/>
                </a:solidFill>
              </a:defRPr>
            </a:pPr>
            <a:r>
              <a:rPr dirty="0"/>
              <a:t>Presentation Layer (Admin)</a:t>
            </a:r>
          </a:p>
          <a:p>
            <a:pPr>
              <a:spcAft>
                <a:spcPts val="1200"/>
              </a:spcAft>
              <a:defRPr sz="1100" b="1">
                <a:solidFill>
                  <a:srgbClr val="C5A059"/>
                </a:solidFill>
              </a:defRPr>
            </a:pPr>
            <a:r>
              <a:rPr dirty="0"/>
              <a:t>Responsive HTML5, CSS3</a:t>
            </a:r>
          </a:p>
          <a:p>
            <a:pPr>
              <a:defRPr sz="1100">
                <a:solidFill>
                  <a:srgbClr val="2D2424"/>
                </a:solidFill>
              </a:defRPr>
            </a:pPr>
            <a:r>
              <a:rPr dirty="0"/>
              <a:t>Tailored for clinic front-desk and doctor's tablet. Zero complex build dependencies. Real-time REST communication.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4688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6A1B4D"/>
                </a:solidFill>
              </a:defRPr>
            </a:pPr>
            <a:r>
              <a:rPr dirty="0"/>
              <a:t>Mobile Layer (Patient Portal)</a:t>
            </a:r>
          </a:p>
          <a:p>
            <a:pPr>
              <a:spcAft>
                <a:spcPts val="1200"/>
              </a:spcAft>
              <a:defRPr sz="1100" b="1">
                <a:solidFill>
                  <a:srgbClr val="C5A059"/>
                </a:solidFill>
              </a:defRPr>
            </a:pPr>
            <a:r>
              <a:rPr dirty="0"/>
              <a:t>React Native, TypeScript, Expo 51, React Navigation</a:t>
            </a:r>
          </a:p>
          <a:p>
            <a:pPr>
              <a:defRPr sz="1100">
                <a:solidFill>
                  <a:srgbClr val="2D2424"/>
                </a:solidFill>
              </a:defRPr>
            </a:pPr>
            <a:r>
              <a:rPr dirty="0"/>
              <a:t>Cross-platform iOS and Android client. Secure local credential storage, push-ready architecture, interactive booking.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24688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6A1B4D"/>
                </a:solidFill>
              </a:defRPr>
            </a:pPr>
            <a:r>
              <a:t>Application Layer (Backend)</a:t>
            </a:r>
          </a:p>
          <a:p>
            <a:pPr>
              <a:spcAft>
                <a:spcPts val="1200"/>
              </a:spcAft>
              <a:defRPr sz="1100" b="1">
                <a:solidFill>
                  <a:srgbClr val="C5A059"/>
                </a:solidFill>
              </a:defRPr>
            </a:pPr>
            <a:r>
              <a:t>Java 21 LTS, Spring Boot 3.3.4, Spring Security, Hibernate</a:t>
            </a:r>
          </a:p>
          <a:p>
            <a:pPr>
              <a:defRPr sz="1100">
                <a:solidFill>
                  <a:srgbClr val="2D2424"/>
                </a:solidFill>
              </a:defRPr>
            </a:pPr>
            <a:r>
              <a:t>Layered service/controller micro-architecture. Stateless JWT tokens, OpenHTMLtoPDF generation, Flyway migrations.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645920"/>
            <a:ext cx="24688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6A1B4D"/>
                </a:solidFill>
              </a:defRPr>
            </a:pPr>
            <a:r>
              <a:rPr dirty="0"/>
              <a:t>Persistence Layer (Database)</a:t>
            </a:r>
          </a:p>
          <a:p>
            <a:pPr>
              <a:spcAft>
                <a:spcPts val="1200"/>
              </a:spcAft>
              <a:defRPr sz="1100" b="1">
                <a:solidFill>
                  <a:srgbClr val="C5A059"/>
                </a:solidFill>
              </a:defRPr>
            </a:pPr>
            <a:r>
              <a:rPr dirty="0"/>
              <a:t>MySQL Server, ACID Transactions, Docker Compose</a:t>
            </a:r>
          </a:p>
          <a:p>
            <a:pPr>
              <a:defRPr sz="1100">
                <a:solidFill>
                  <a:srgbClr val="2D2424"/>
                </a:solidFill>
              </a:defRPr>
            </a:pPr>
            <a:r>
              <a:rPr dirty="0"/>
              <a:t>19 fully normalized relational tables. Concurrency protection on appointment slots, immutable audit logging.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5A059"/>
                </a:solidFill>
              </a:defRPr>
            </a:pPr>
            <a:r>
              <a:t>SECURE, ROLE-BASED ACCESS CONTROL (RBAC)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6A1B4D"/>
                </a:solidFill>
              </a:defRPr>
            </a:pPr>
            <a:r>
              <a:t>Doctor &amp; Administrative Authentication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698480" cy="36576"/>
          </a:xfrm>
          <a:prstGeom prst="rect">
            <a:avLst/>
          </a:prstGeom>
          <a:solidFill>
            <a:srgbClr val="C5A059"/>
          </a:solidFill>
          <a:ln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57200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6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500" b="1">
                <a:solidFill>
                  <a:srgbClr val="6A1B4D"/>
                </a:solidFill>
              </a:defRPr>
            </a:pPr>
            <a:r>
              <a:rPr dirty="0"/>
              <a:t>Key Functional Capabilities</a:t>
            </a:r>
          </a:p>
          <a:p>
            <a:pPr>
              <a:spcAft>
                <a:spcPts val="800"/>
              </a:spcAft>
            </a:pPr>
            <a:r>
              <a:rPr sz="1100" b="1" dirty="0">
                <a:solidFill>
                  <a:srgbClr val="6A1B4D"/>
                </a:solidFill>
              </a:rPr>
              <a:t>• D</a:t>
            </a:r>
            <a:r>
              <a:rPr lang="en-GB" sz="1100" b="1" dirty="0" err="1">
                <a:solidFill>
                  <a:srgbClr val="6A1B4D"/>
                </a:solidFill>
              </a:rPr>
              <a:t>octor’s</a:t>
            </a:r>
            <a:r>
              <a:rPr lang="en-GB" sz="1100" b="1" dirty="0">
                <a:solidFill>
                  <a:srgbClr val="6A1B4D"/>
                </a:solidFill>
              </a:rPr>
              <a:t> </a:t>
            </a:r>
            <a:r>
              <a:rPr sz="1100" b="1" dirty="0">
                <a:solidFill>
                  <a:srgbClr val="6A1B4D"/>
                </a:solidFill>
              </a:rPr>
              <a:t>Credential Validation:</a:t>
            </a:r>
            <a:r>
              <a:rPr sz="1050" dirty="0">
                <a:solidFill>
                  <a:srgbClr val="2D2424"/>
                </a:solidFill>
              </a:rPr>
              <a:t> Phone-number and password-based login with </a:t>
            </a:r>
            <a:r>
              <a:rPr sz="1050" dirty="0" err="1">
                <a:solidFill>
                  <a:srgbClr val="2D2424"/>
                </a:solidFill>
              </a:rPr>
              <a:t>bcrypt</a:t>
            </a:r>
            <a:r>
              <a:rPr sz="1050" dirty="0">
                <a:solidFill>
                  <a:srgbClr val="2D2424"/>
                </a:solidFill>
              </a:rPr>
              <a:t> hash verification.</a:t>
            </a:r>
          </a:p>
          <a:p>
            <a:pPr>
              <a:spcAft>
                <a:spcPts val="800"/>
              </a:spcAft>
            </a:pPr>
            <a:r>
              <a:rPr sz="1100" b="1" dirty="0">
                <a:solidFill>
                  <a:srgbClr val="6A1B4D"/>
                </a:solidFill>
              </a:rPr>
              <a:t>• Official Medical Badge:</a:t>
            </a:r>
            <a:r>
              <a:rPr sz="1050" dirty="0">
                <a:solidFill>
                  <a:srgbClr val="2D2424"/>
                </a:solidFill>
              </a:rPr>
              <a:t> Highlights registration #73892 to reinforce authentic practitioner governance.</a:t>
            </a:r>
          </a:p>
          <a:p>
            <a:pPr>
              <a:spcAft>
                <a:spcPts val="800"/>
              </a:spcAft>
            </a:pPr>
            <a:r>
              <a:rPr sz="1100" b="1" dirty="0">
                <a:solidFill>
                  <a:srgbClr val="6A1B4D"/>
                </a:solidFill>
              </a:rPr>
              <a:t>• Stateless JWT Issuance:</a:t>
            </a:r>
            <a:r>
              <a:rPr sz="1050" dirty="0">
                <a:solidFill>
                  <a:srgbClr val="2D2424"/>
                </a:solidFill>
              </a:rPr>
              <a:t> Signs HMAC-SHA256 access tokens and refresh tokens for secure session maintenance.</a:t>
            </a:r>
          </a:p>
          <a:p>
            <a:pPr>
              <a:spcAft>
                <a:spcPts val="800"/>
              </a:spcAft>
            </a:pPr>
            <a:r>
              <a:rPr sz="1100" b="1" dirty="0">
                <a:solidFill>
                  <a:srgbClr val="6A1B4D"/>
                </a:solidFill>
              </a:rPr>
              <a:t>• Live Preview Mode:</a:t>
            </a:r>
            <a:r>
              <a:rPr sz="1050" dirty="0">
                <a:solidFill>
                  <a:srgbClr val="2D2424"/>
                </a:solidFill>
              </a:rPr>
              <a:t> Built-in instant preview mechanism allowing demo inspection without external barriers.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0" y="1645920"/>
            <a:ext cx="5852160" cy="4663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01_doctor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737360"/>
            <a:ext cx="5669280" cy="3543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5A059"/>
                </a:solidFill>
              </a:defRPr>
            </a:pPr>
            <a:r>
              <a:t>REAL-TIME PRACTICE ANALYTICS &amp; TODAY'S QUEUE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6A1B4D"/>
                </a:solidFill>
              </a:defRPr>
            </a:pPr>
            <a:r>
              <a:t>Executive Clinical Operations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698480" cy="36576"/>
          </a:xfrm>
          <a:prstGeom prst="rect">
            <a:avLst/>
          </a:prstGeom>
          <a:solidFill>
            <a:srgbClr val="C5A059"/>
          </a:solidFill>
          <a:ln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57200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6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500" b="1">
                <a:solidFill>
                  <a:srgbClr val="6A1B4D"/>
                </a:solidFill>
              </a:defRPr>
            </a:pPr>
            <a:r>
              <a:t>Key Functional Capabilities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6A1B4D"/>
                </a:solidFill>
              </a:rPr>
              <a:t>• Comprehensive Daily KPIs:</a:t>
            </a:r>
            <a:r>
              <a:rPr sz="1050">
                <a:solidFill>
                  <a:srgbClr val="2D2424"/>
                </a:solidFill>
              </a:rPr>
              <a:t> Displays active registered patients (5), today's appointments (4), and collections (₹8,000).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6A1B4D"/>
                </a:solidFill>
              </a:rPr>
              <a:t>• Live Queue Management:</a:t>
            </a:r>
            <a:r>
              <a:rPr sz="1050">
                <a:solidFill>
                  <a:srgbClr val="2D2424"/>
                </a:solidFill>
              </a:rPr>
              <a:t> Real-time token caller (#01 Pooja Sharma) with immediate call-next and complete actions.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6A1B4D"/>
                </a:solidFill>
              </a:rPr>
              <a:t>• Today's Chronological Schedule:</a:t>
            </a:r>
            <a:r>
              <a:rPr sz="1050">
                <a:solidFill>
                  <a:srgbClr val="2D2424"/>
                </a:solidFill>
              </a:rPr>
              <a:t> Time slot, patient name, procedure category, and status indicators.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6A1B4D"/>
                </a:solidFill>
              </a:rPr>
              <a:t>• Quick Action Shortcuts:</a:t>
            </a:r>
            <a:r>
              <a:rPr sz="1050">
                <a:solidFill>
                  <a:srgbClr val="2D2424"/>
                </a:solidFill>
              </a:rPr>
              <a:t> Single-click shortcuts to register walk-ins, book appointments, or write prescriptions.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0" y="1481328"/>
            <a:ext cx="5882640" cy="482803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02_executive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6846" y="1920240"/>
            <a:ext cx="5460274" cy="341267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5A059"/>
                </a:solidFill>
              </a:defRPr>
            </a:pPr>
            <a:r>
              <a:t>COLLISION-FREE BOOKING &amp; SESSION CALENDARS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6A1B4D"/>
                </a:solidFill>
              </a:defRPr>
            </a:pPr>
            <a:r>
              <a:t>Smart Appointment Scheduling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698480" cy="36576"/>
          </a:xfrm>
          <a:prstGeom prst="rect">
            <a:avLst/>
          </a:prstGeom>
          <a:solidFill>
            <a:srgbClr val="C5A059"/>
          </a:solidFill>
          <a:ln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57200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6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500" b="1">
                <a:solidFill>
                  <a:srgbClr val="6A1B4D"/>
                </a:solidFill>
              </a:defRPr>
            </a:pPr>
            <a:r>
              <a:t>Key Functional Capabilities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6A1B4D"/>
                </a:solidFill>
              </a:rPr>
              <a:t>• Clinic Shift Adherence:</a:t>
            </a:r>
            <a:r>
              <a:rPr sz="1050">
                <a:solidFill>
                  <a:srgbClr val="2D2424"/>
                </a:solidFill>
              </a:rPr>
              <a:t> Enforces Morning (10 AM - 1 PM) and Evening (5 PM - 9 PM) clinic consultation hours.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6A1B4D"/>
                </a:solidFill>
              </a:rPr>
              <a:t>• Service-Specific Durations:</a:t>
            </a:r>
            <a:r>
              <a:rPr sz="1050">
                <a:solidFill>
                  <a:srgbClr val="2D2424"/>
                </a:solidFill>
              </a:rPr>
              <a:t> Automatically schedules 45 min for HydraFacial/Laser, 60 min for PRP, 15 min for follow-ups.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6A1B4D"/>
                </a:solidFill>
              </a:rPr>
              <a:t>• Anti-Collision Locks:</a:t>
            </a:r>
            <a:r>
              <a:rPr sz="1050">
                <a:solidFill>
                  <a:srgbClr val="2D2424"/>
                </a:solidFill>
              </a:rPr>
              <a:t> Database-level transaction verification eliminates overlapping doctor appointments.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6A1B4D"/>
                </a:solidFill>
              </a:rPr>
              <a:t>• Status Tracking:</a:t>
            </a:r>
            <a:r>
              <a:rPr sz="1050">
                <a:solidFill>
                  <a:srgbClr val="2D2424"/>
                </a:solidFill>
              </a:rPr>
              <a:t> Seamlessly manages CONFIRMED, CHECKED-IN, COMPLETED, and RESCHEDULED lifecycles.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0" y="1645920"/>
            <a:ext cx="5852160" cy="4663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03_appointment_schedu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737360"/>
            <a:ext cx="5669280" cy="35433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5A059"/>
                </a:solidFill>
              </a:defRPr>
            </a:pPr>
            <a:r>
              <a:t>CENTRALIZED PATIENT RECORDS &amp; ALLERGY WARNINGS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6A1B4D"/>
                </a:solidFill>
              </a:defRPr>
            </a:pPr>
            <a:r>
              <a:t>Patient Demographic &amp; Medical Registry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698480" cy="36576"/>
          </a:xfrm>
          <a:prstGeom prst="rect">
            <a:avLst/>
          </a:prstGeom>
          <a:solidFill>
            <a:srgbClr val="C5A059"/>
          </a:solidFill>
          <a:ln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57200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6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500" b="1">
                <a:solidFill>
                  <a:srgbClr val="6A1B4D"/>
                </a:solidFill>
              </a:defRPr>
            </a:pPr>
            <a:r>
              <a:t>Key Functional Capabilities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6A1B4D"/>
                </a:solidFill>
              </a:rPr>
              <a:t>• Unique Patient Identifier:</a:t>
            </a:r>
            <a:r>
              <a:rPr sz="1050">
                <a:solidFill>
                  <a:srgbClr val="2D2424"/>
                </a:solidFill>
              </a:rPr>
              <a:t> System assigns tracking IDs (e.g., P-2026-0001) for clean longitudinal health records.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6A1B4D"/>
                </a:solidFill>
              </a:rPr>
              <a:t>• Critical Allergy Alerts:</a:t>
            </a:r>
            <a:r>
              <a:rPr sz="1050">
                <a:solidFill>
                  <a:srgbClr val="2D2424"/>
                </a:solidFill>
              </a:rPr>
              <a:t> Highlights drug sensitivities (Sulfa drugs, Aspirin, Fragrances) in prominent visual tags.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6A1B4D"/>
                </a:solidFill>
              </a:rPr>
              <a:t>• Complete Demographics:</a:t>
            </a:r>
            <a:r>
              <a:rPr sz="1050">
                <a:solidFill>
                  <a:srgbClr val="2D2424"/>
                </a:solidFill>
              </a:rPr>
              <a:t> Captures emergency contact, age, gender, blood group, and past medical history.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6A1B4D"/>
                </a:solidFill>
              </a:rPr>
              <a:t>• Deep Record Integration:</a:t>
            </a:r>
            <a:r>
              <a:rPr sz="1050">
                <a:solidFill>
                  <a:srgbClr val="2D2424"/>
                </a:solidFill>
              </a:rPr>
              <a:t> Direct link to view patient's historical consultations, prescriptions, and past payments.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0" y="1645920"/>
            <a:ext cx="5852160" cy="4663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04_patient_regis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737360"/>
            <a:ext cx="5669280" cy="35433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5A059"/>
                </a:solidFill>
              </a:defRPr>
            </a:pPr>
            <a:r>
              <a:t>SYSTEMATIC CLINICAL NOTES &amp; DIAGNOSTIC DOCUMENTATION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6A1B4D"/>
                </a:solidFill>
              </a:defRPr>
            </a:pPr>
            <a:r>
              <a:t>Electronic Medical Records (EMR) &amp; Consultations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698480" cy="36576"/>
          </a:xfrm>
          <a:prstGeom prst="rect">
            <a:avLst/>
          </a:prstGeom>
          <a:solidFill>
            <a:srgbClr val="C5A059"/>
          </a:solidFill>
          <a:ln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57200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6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500" b="1">
                <a:solidFill>
                  <a:srgbClr val="6A1B4D"/>
                </a:solidFill>
              </a:defRPr>
            </a:pPr>
            <a:r>
              <a:t>Key Functional Capabilities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6A1B4D"/>
                </a:solidFill>
              </a:rPr>
              <a:t>• Structured Consultations:</a:t>
            </a:r>
            <a:r>
              <a:rPr sz="1050">
                <a:solidFill>
                  <a:srgbClr val="2D2424"/>
                </a:solidFill>
              </a:rPr>
              <a:t> Dedicated fields for Chief Complaints, Examination Findings, Vitals, and Treatment Plans.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6A1B4D"/>
                </a:solidFill>
              </a:rPr>
              <a:t>• Cosmetology &amp; Trichology Focus:</a:t>
            </a:r>
            <a:r>
              <a:rPr sz="1050">
                <a:solidFill>
                  <a:srgbClr val="2D2424"/>
                </a:solidFill>
              </a:rPr>
              <a:t> Records acne lesion counts, pigmentation severity, and scalp Norwood classifications.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6A1B4D"/>
                </a:solidFill>
              </a:rPr>
              <a:t>• Vital Tracking:</a:t>
            </a:r>
            <a:r>
              <a:rPr sz="1050">
                <a:solidFill>
                  <a:srgbClr val="2D2424"/>
                </a:solidFill>
              </a:rPr>
              <a:t> Tracks Blood Pressure (118/76 mmHg), Pulse (74 bpm), and Body Weight (56.5 kg) at each visit.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6A1B4D"/>
                </a:solidFill>
              </a:rPr>
              <a:t>• Immutable Auditability:</a:t>
            </a:r>
            <a:r>
              <a:rPr sz="1050">
                <a:solidFill>
                  <a:srgbClr val="2D2424"/>
                </a:solidFill>
              </a:rPr>
              <a:t> Consultation notes are securely tied to Dr. Ankita Kolli's medical ID.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0" y="1645920"/>
            <a:ext cx="5852160" cy="4663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05_clinical_reco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737360"/>
            <a:ext cx="5669280" cy="35433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5A059"/>
                </a:solidFill>
              </a:defRPr>
            </a:pPr>
            <a:r>
              <a:t>TAMPER-EVIDENT FORMULATIONS &amp; CRYPTOGRAPHIC HASH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6A1B4D"/>
                </a:solidFill>
              </a:defRPr>
            </a:pPr>
            <a:r>
              <a:t>Digital Prescription Pad &amp; PDF Generator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698480" cy="36576"/>
          </a:xfrm>
          <a:prstGeom prst="rect">
            <a:avLst/>
          </a:prstGeom>
          <a:solidFill>
            <a:srgbClr val="C5A059"/>
          </a:solidFill>
          <a:ln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57200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6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500" b="1">
                <a:solidFill>
                  <a:srgbClr val="6A1B4D"/>
                </a:solidFill>
              </a:defRPr>
            </a:pPr>
            <a:r>
              <a:t>Key Functional Capabilities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6A1B4D"/>
                </a:solidFill>
              </a:rPr>
              <a:t>• Standardized Cosmeceutical Formulary:</a:t>
            </a:r>
            <a:r>
              <a:rPr sz="1050">
                <a:solidFill>
                  <a:srgbClr val="2D2424"/>
                </a:solidFill>
              </a:rPr>
              <a:t> Pre-built dosage templates for clindamycin, adapalene, retinoids, and oral agents.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6A1B4D"/>
                </a:solidFill>
              </a:rPr>
              <a:t>• Cryptographic Signature:</a:t>
            </a:r>
            <a:r>
              <a:rPr sz="1050">
                <a:solidFill>
                  <a:srgbClr val="2D2424"/>
                </a:solidFill>
              </a:rPr>
              <a:t> Generates SHA-256 hash ensuring prescription integrity and pharmacy verification.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6A1B4D"/>
                </a:solidFill>
              </a:rPr>
              <a:t>• Administration Guidelines:</a:t>
            </a:r>
            <a:r>
              <a:rPr sz="1050">
                <a:solidFill>
                  <a:srgbClr val="2D2424"/>
                </a:solidFill>
              </a:rPr>
              <a:t> Auto-includes patient instructions (sunscreen protocols, cleansing routines, follow-up dates).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6A1B4D"/>
                </a:solidFill>
              </a:rPr>
              <a:t>• Instant PDF Generation:</a:t>
            </a:r>
            <a:r>
              <a:rPr sz="1050">
                <a:solidFill>
                  <a:srgbClr val="2D2424"/>
                </a:solidFill>
              </a:rPr>
              <a:t> Generates print-ready PDFs with official clinic header and doctor registration details.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0" y="1645920"/>
            <a:ext cx="5852160" cy="4663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06_digital_prescrip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737360"/>
            <a:ext cx="5669280" cy="35433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5A059"/>
                </a:solidFill>
              </a:defRPr>
            </a:pPr>
            <a:r>
              <a:t>MULTI-MODE PAYMENT TRACKING &amp; TAX ACCOUNTING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6A1B4D"/>
                </a:solidFill>
              </a:defRPr>
            </a:pPr>
            <a:r>
              <a:t>Billing, Invoicing &amp; Payment Reconciliation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698480" cy="36576"/>
          </a:xfrm>
          <a:prstGeom prst="rect">
            <a:avLst/>
          </a:prstGeom>
          <a:solidFill>
            <a:srgbClr val="C5A059"/>
          </a:solidFill>
          <a:ln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57200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6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500" b="1">
                <a:solidFill>
                  <a:srgbClr val="6A1B4D"/>
                </a:solidFill>
              </a:defRPr>
            </a:pPr>
            <a:r>
              <a:t>Key Functional Capabilities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6A1B4D"/>
                </a:solidFill>
              </a:rPr>
              <a:t>• Automated Invoicing:</a:t>
            </a:r>
            <a:r>
              <a:rPr sz="1050">
                <a:solidFill>
                  <a:srgbClr val="2D2424"/>
                </a:solidFill>
              </a:rPr>
              <a:t> Calculates procedure costs, consultation fees, and promotional discounts automatically.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6A1B4D"/>
                </a:solidFill>
              </a:rPr>
              <a:t>• Multi-Channel Settlements:</a:t>
            </a:r>
            <a:r>
              <a:rPr sz="1050">
                <a:solidFill>
                  <a:srgbClr val="2D2424"/>
                </a:solidFill>
              </a:rPr>
              <a:t> Records payments across UPI (Google Pay, PhonePe), Cards (POS), and Cash.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6A1B4D"/>
                </a:solidFill>
              </a:rPr>
              <a:t>• Audit-Compliant Invoices:</a:t>
            </a:r>
            <a:r>
              <a:rPr sz="1050">
                <a:solidFill>
                  <a:srgbClr val="2D2424"/>
                </a:solidFill>
              </a:rPr>
              <a:t> Generates sequential invoice numbers (e.g. INV-20261025-01) with itemized receipts.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6A1B4D"/>
                </a:solidFill>
              </a:rPr>
              <a:t>• Real-Time Balance Ledger:</a:t>
            </a:r>
            <a:r>
              <a:rPr sz="1050">
                <a:solidFill>
                  <a:srgbClr val="2D2424"/>
                </a:solidFill>
              </a:rPr>
              <a:t> Tracks pending invoice balances and prevents unrecorded procedure revenue.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0" y="1645920"/>
            <a:ext cx="5852160" cy="4663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07_billing_invo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737360"/>
            <a:ext cx="5669280" cy="35433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5A059"/>
                </a:solidFill>
              </a:defRPr>
            </a:pPr>
            <a:r>
              <a:t>REVENUE DISTRIBUTIONS, SERVICE POPULARITY &amp; FOOTFALL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6A1B4D"/>
                </a:solidFill>
              </a:defRPr>
            </a:pPr>
            <a:r>
              <a:t>Practice Analytics &amp; Financial Intelligence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698480" cy="36576"/>
          </a:xfrm>
          <a:prstGeom prst="rect">
            <a:avLst/>
          </a:prstGeom>
          <a:solidFill>
            <a:srgbClr val="C5A059"/>
          </a:solidFill>
          <a:ln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57200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6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500" b="1">
                <a:solidFill>
                  <a:srgbClr val="6A1B4D"/>
                </a:solidFill>
              </a:defRPr>
            </a:pPr>
            <a:r>
              <a:t>Key Functional Capabilities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6A1B4D"/>
                </a:solidFill>
              </a:rPr>
              <a:t>• Category Revenue Breakdown:</a:t>
            </a:r>
            <a:r>
              <a:rPr sz="1050">
                <a:solidFill>
                  <a:srgbClr val="2D2424"/>
                </a:solidFill>
              </a:rPr>
              <a:t> Pinpoints revenue across Skin Care (₹3,500), Hair Care (₹5,000), and Laser Treatments.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6A1B4D"/>
                </a:solidFill>
              </a:rPr>
              <a:t>• Payment Channel Share:</a:t>
            </a:r>
            <a:r>
              <a:rPr sz="1050">
                <a:solidFill>
                  <a:srgbClr val="2D2424"/>
                </a:solidFill>
              </a:rPr>
              <a:t> Tracks collections breakdown (UPI: 62% | Card: 24% | Cash: 14%) for banking reconciliation.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6A1B4D"/>
                </a:solidFill>
              </a:rPr>
              <a:t>• Patient Retention Analytics:</a:t>
            </a:r>
            <a:r>
              <a:rPr sz="1050">
                <a:solidFill>
                  <a:srgbClr val="2D2424"/>
                </a:solidFill>
              </a:rPr>
              <a:t> Monitors new patient consultations versus repeat aesthetic maintenance sessions.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6A1B4D"/>
                </a:solidFill>
              </a:rPr>
              <a:t>• Financial Export:</a:t>
            </a:r>
            <a:r>
              <a:rPr sz="1050">
                <a:solidFill>
                  <a:srgbClr val="2D2424"/>
                </a:solidFill>
              </a:rPr>
              <a:t> Supports rapid CSV and PDF exports for clinic accounting and statutory tax filings.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0" y="1645920"/>
            <a:ext cx="5852160" cy="4663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08_analytics_re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737360"/>
            <a:ext cx="5669280" cy="35433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5A059"/>
                </a:solidFill>
              </a:defRPr>
            </a:pPr>
            <a:r>
              <a:t>REACT NATIVE IOS &amp; ANDROID SMARTPHONE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6A1B4D"/>
                </a:solidFill>
              </a:defRPr>
            </a:pPr>
            <a:r>
              <a:t>Cross-Platform Patient Mobile Portal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698480" cy="36576"/>
          </a:xfrm>
          <a:prstGeom prst="rect">
            <a:avLst/>
          </a:prstGeom>
          <a:solidFill>
            <a:srgbClr val="C5A059"/>
          </a:solidFill>
          <a:ln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57200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6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500" b="1">
                <a:solidFill>
                  <a:srgbClr val="6A1B4D"/>
                </a:solidFill>
              </a:defRPr>
            </a:pPr>
            <a:r>
              <a:t>Key Functional Capabilities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6A1B4D"/>
                </a:solidFill>
              </a:rPr>
              <a:t>• Patient Self-Service:</a:t>
            </a:r>
            <a:r>
              <a:rPr sz="1050">
                <a:solidFill>
                  <a:srgbClr val="2D2424"/>
                </a:solidFill>
              </a:rPr>
              <a:t> Intuitive mobile interface allowing patients to schedule appointments and view open slots.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6A1B4D"/>
                </a:solidFill>
              </a:rPr>
              <a:t>• Live Queue Token Tracker:</a:t>
            </a:r>
            <a:r>
              <a:rPr sz="1050">
                <a:solidFill>
                  <a:srgbClr val="2D2424"/>
                </a:solidFill>
              </a:rPr>
              <a:t> Patients track their sequential token (#01) from home, eliminating crowded waiting rooms.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6A1B4D"/>
                </a:solidFill>
              </a:rPr>
              <a:t>• Paperless Medical Wallet:</a:t>
            </a:r>
            <a:r>
              <a:rPr sz="1050">
                <a:solidFill>
                  <a:srgbClr val="2D2424"/>
                </a:solidFill>
              </a:rPr>
              <a:t> Instant access to active prescriptions (RX-202610-001) and diagnostic instructions.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6A1B4D"/>
                </a:solidFill>
              </a:rPr>
              <a:t>• Direct Clinic Communication:</a:t>
            </a:r>
            <a:r>
              <a:rPr sz="1050">
                <a:solidFill>
                  <a:srgbClr val="2D2424"/>
                </a:solidFill>
              </a:rPr>
              <a:t> One-tap calling to clinic helpline (+91 789 789 2177) and clinic map location.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0" y="1645920"/>
            <a:ext cx="5852160" cy="4663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10_patient_mobile_a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737360"/>
            <a:ext cx="5669280" cy="36220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5A059"/>
                </a:solidFill>
              </a:defRPr>
            </a:pPr>
            <a:r>
              <a:t>DERMA BLISS CLINIC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6A1B4D"/>
                </a:solidFill>
              </a:defRPr>
            </a:pPr>
            <a:r>
              <a:t>Data Integrity &amp; Defense-in-Depth Security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698480" cy="36576"/>
          </a:xfrm>
          <a:prstGeom prst="rect">
            <a:avLst/>
          </a:prstGeom>
          <a:solidFill>
            <a:srgbClr val="C5A059"/>
          </a:solidFill>
          <a:ln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6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6A1B4D"/>
                </a:solidFill>
              </a:defRPr>
            </a:pPr>
            <a:r>
              <a:t>Normalized Relational Architecture</a:t>
            </a:r>
          </a:p>
          <a:p>
            <a:pPr>
              <a:spcAft>
                <a:spcPts val="800"/>
              </a:spcAft>
              <a:defRPr sz="1100">
                <a:solidFill>
                  <a:srgbClr val="2D2424"/>
                </a:solidFill>
              </a:defRPr>
            </a:pPr>
            <a:r>
              <a:t>✔ 19 Fully Normalized Tables: Structured schema covering Users, Patients, Services, Doctor Schedules, Appointments, EMR, Prescriptions, Invoices, and Tokens.</a:t>
            </a:r>
          </a:p>
          <a:p>
            <a:pPr>
              <a:spcAft>
                <a:spcPts val="800"/>
              </a:spcAft>
              <a:defRPr sz="1100">
                <a:solidFill>
                  <a:srgbClr val="2D2424"/>
                </a:solidFill>
              </a:defRPr>
            </a:pPr>
            <a:r>
              <a:t>✔ Flyway Versioned Migrations: V1__init_schema.sql and V2__seed_initial_data.sql guarantee identical schema deployments across dev, stage, and prod.</a:t>
            </a:r>
          </a:p>
          <a:p>
            <a:pPr>
              <a:spcAft>
                <a:spcPts val="800"/>
              </a:spcAft>
              <a:defRPr sz="1100">
                <a:solidFill>
                  <a:srgbClr val="2D2424"/>
                </a:solidFill>
              </a:defRPr>
            </a:pPr>
            <a:r>
              <a:t>✔ Financial Precision: Monetary fields strictly typed as DECIMAL(10,2) to eliminate floating-point rounding inaccuracies in clinic billing.</a:t>
            </a:r>
          </a:p>
          <a:p>
            <a:pPr>
              <a:spcAft>
                <a:spcPts val="800"/>
              </a:spcAft>
              <a:defRPr sz="1100">
                <a:solidFill>
                  <a:srgbClr val="2D2424"/>
                </a:solidFill>
              </a:defRPr>
            </a:pPr>
            <a:r>
              <a:t>✔ Optimized Indexing: Dedicated composite B-Tree indexes on patient phone numbers, appointment dates, and doctor schedules.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6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6A1B4D"/>
                </a:solidFill>
              </a:defRPr>
            </a:pPr>
            <a:r>
              <a:t>Healthcare Security Controls</a:t>
            </a:r>
          </a:p>
          <a:p>
            <a:pPr>
              <a:spcAft>
                <a:spcPts val="800"/>
              </a:spcAft>
              <a:defRPr sz="1100">
                <a:solidFill>
                  <a:srgbClr val="2D2424"/>
                </a:solidFill>
              </a:defRPr>
            </a:pPr>
            <a:r>
              <a:t>🔒 Cryptographic Authentication: Salted BCrypt password hashing (cost factor 12) + HMAC-SHA256 signed stateless JWT tokens.</a:t>
            </a:r>
          </a:p>
          <a:p>
            <a:pPr>
              <a:spcAft>
                <a:spcPts val="800"/>
              </a:spcAft>
              <a:defRPr sz="1100">
                <a:solidFill>
                  <a:srgbClr val="2D2424"/>
                </a:solidFill>
              </a:defRPr>
            </a:pPr>
            <a:r>
              <a:t>🔒 Role-Based Access Control: Granular security expressions (@PreAuthorize) preventing horizontal and vertical privilege escalation.</a:t>
            </a:r>
          </a:p>
          <a:p>
            <a:pPr>
              <a:spcAft>
                <a:spcPts val="800"/>
              </a:spcAft>
              <a:defRPr sz="1100">
                <a:solidFill>
                  <a:srgbClr val="2D2424"/>
                </a:solidFill>
              </a:defRPr>
            </a:pPr>
            <a:r>
              <a:t>🔒 OWASP Hardening: Parameterized JPA queries eliminate SQL injection; strict Content-Type and CORS headers prevent cross-site scripting (XSS).</a:t>
            </a:r>
          </a:p>
          <a:p>
            <a:pPr>
              <a:spcAft>
                <a:spcPts val="800"/>
              </a:spcAft>
              <a:defRPr sz="1100">
                <a:solidFill>
                  <a:srgbClr val="2D2424"/>
                </a:solidFill>
              </a:defRPr>
            </a:pPr>
            <a:r>
              <a:t>🔒 Tamper-Proof Audit Trails: Every patient record alteration, prescription issuance, and invoice creation records user ID, IP address, and timestamp.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5A059"/>
                </a:solidFill>
              </a:defRPr>
            </a:pPr>
            <a:r>
              <a:t>DERMA BLISS CLINIC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6A1B4D"/>
                </a:solidFill>
              </a:defRPr>
            </a:pPr>
            <a:r>
              <a:t>Future Enhancements &amp; Strategic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698480" cy="36576"/>
          </a:xfrm>
          <a:prstGeom prst="rect">
            <a:avLst/>
          </a:prstGeom>
          <a:solidFill>
            <a:srgbClr val="C5A059"/>
          </a:solidFill>
          <a:ln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6A1B4D"/>
                </a:solidFill>
              </a:defRPr>
            </a:pPr>
            <a:r>
              <a:t>1. AI Dermatological Image Diagnostics</a:t>
            </a:r>
          </a:p>
          <a:p>
            <a:pPr>
              <a:defRPr sz="1050">
                <a:solidFill>
                  <a:srgbClr val="2D2424"/>
                </a:solidFill>
              </a:defRPr>
            </a:pPr>
            <a:r>
              <a:t>Deep learning CNN models to grade acne severity, calculate Fitzpatrick pigmentation index, and assess serial treatment recovery.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2120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6A1B4D"/>
                </a:solidFill>
              </a:defRPr>
            </a:pPr>
            <a:r>
              <a:t>2. WhatsApp Business Cloud Messaging</a:t>
            </a:r>
          </a:p>
          <a:p>
            <a:pPr>
              <a:defRPr sz="1050">
                <a:solidFill>
                  <a:srgbClr val="2D2424"/>
                </a:solidFill>
              </a:defRPr>
            </a:pPr>
            <a:r>
              <a:t>Automated appointment reminders, digital prescription delivery, and 2-way patient booking confirmation via WhatsApp.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00400"/>
            <a:ext cx="52120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6A1B4D"/>
                </a:solidFill>
              </a:defRPr>
            </a:pPr>
            <a:r>
              <a:t>3. Tele-Dermatology &amp; Video Visits</a:t>
            </a:r>
          </a:p>
          <a:p>
            <a:pPr>
              <a:defRPr sz="1050">
                <a:solidFill>
                  <a:srgbClr val="2D2424"/>
                </a:solidFill>
              </a:defRPr>
            </a:pPr>
            <a:r>
              <a:t>End-to-end encrypted WebRTC video consultations for remote aesthetic follow-ups and chemical peel healing monitoring.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200400"/>
            <a:ext cx="52120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6A1B4D"/>
                </a:solidFill>
              </a:defRPr>
            </a:pPr>
            <a:r>
              <a:t>4. Smart Consumable Stock Tracking</a:t>
            </a:r>
          </a:p>
          <a:p>
            <a:pPr>
              <a:defRPr sz="1050">
                <a:solidFill>
                  <a:srgbClr val="2D2424"/>
                </a:solidFill>
              </a:defRPr>
            </a:pPr>
            <a:r>
              <a:t>Automated inventory management for aesthetic serums, laser cooling gels, and PRP vacutainers with batch expiry alerts.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754880"/>
            <a:ext cx="52120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6A1B4D"/>
                </a:solidFill>
              </a:defRPr>
            </a:pPr>
            <a:r>
              <a:t>5. Ayushman Bharat (ABDM) Integration</a:t>
            </a:r>
          </a:p>
          <a:p>
            <a:pPr>
              <a:defRPr sz="1050">
                <a:solidFill>
                  <a:srgbClr val="2D2424"/>
                </a:solidFill>
              </a:defRPr>
            </a:pPr>
            <a:r>
              <a:t>National health digital connectivity through ABHA IDs, enabling verified longitudinal electronic health record sharing.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4754880"/>
            <a:ext cx="52120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400"/>
              </a:spcAft>
              <a:defRPr sz="1300" b="1">
                <a:solidFill>
                  <a:srgbClr val="6A1B4D"/>
                </a:solidFill>
              </a:defRPr>
            </a:pPr>
            <a:r>
              <a:t>6. Multi-Branch Scalability</a:t>
            </a:r>
          </a:p>
          <a:p>
            <a:pPr>
              <a:defRPr sz="1050">
                <a:solidFill>
                  <a:srgbClr val="2D2424"/>
                </a:solidFill>
              </a:defRPr>
            </a:pPr>
            <a:r>
              <a:t>Expanding current Spring Boot backend into a multi-tenant cloud architecture to seamlessly support new Derma Bliss branches.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A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959429" y="1097280"/>
            <a:ext cx="8534095" cy="46634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3000" b="1">
                <a:solidFill>
                  <a:srgbClr val="6A1B4D"/>
                </a:solidFill>
              </a:defRPr>
            </a:pPr>
            <a:r>
              <a:rPr sz="8000" dirty="0"/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1481</Words>
  <Application>Microsoft Office PowerPoint</Application>
  <PresentationFormat>Widescreen</PresentationFormat>
  <Paragraphs>120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Admin</cp:lastModifiedBy>
  <cp:revision>3</cp:revision>
  <dcterms:created xsi:type="dcterms:W3CDTF">2013-01-27T09:14:16Z</dcterms:created>
  <dcterms:modified xsi:type="dcterms:W3CDTF">2026-10-27T14:25:08Z</dcterms:modified>
  <cp:category/>
</cp:coreProperties>
</file>